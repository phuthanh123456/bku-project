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3800">
                <a:solidFill>
                  <a:srgbClr val="2454A0"/>
                </a:solidFill>
                <a:latin typeface="Aptos"/>
              </a:defRPr>
            </a:pPr>
            <a:r>
              <a:t>ENVI-NMT: Transformer Anh→Việt tự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88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5C677D"/>
                </a:solidFill>
                <a:latin typeface="Aptos"/>
              </a:defRPr>
            </a:pPr>
            <a:r>
              <a:t>RoPE · Pre-Norm · RMSNorm · SwiGLU</a:t>
            </a:r>
          </a:p>
          <a:p>
            <a:pPr>
              <a:spcAft>
                <a:spcPts val="900"/>
              </a:spcAft>
              <a:defRPr sz="2400">
                <a:solidFill>
                  <a:srgbClr val="5C677D"/>
                </a:solidFill>
                <a:latin typeface="Aptos"/>
              </a:defRPr>
            </a:pPr>
            <a:r>
              <a:t>IWSLT 2015 · Cập nhật 08/09/2026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1.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Dịch máy Anh→Việt trong bối cảnh dữ liệu ít (IWSLT 2015).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Tự cài Transformer bằng PyTorch; không dùng model pretrained/nn.Transformer.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Yêu cầu: kết quả tái lập, checkpoint chịu lỗi và demo sử dụng được.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2. Câu hỏi nghiên cứu &amp;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Cải tiến RoPE + Pre-Norm + RMSNorm + SwiGLU có hơn vanilla 2017 cùng budget?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Cổng chất lượng: tst2013 BLEU ≥ 22; giả thuyết đóng góp +1,0 BLEU.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Mọi ablation chạy đúng 6.000 bước, hai seed 42 và 1337.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3. Dữ liệu sau làm sạch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97280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Trước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Sau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133.317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131.339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huấn luyện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tst2012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1.553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1.553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tst2013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1.268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1.268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5C677D"/>
                </a:solidFill>
                <a:latin typeface="Aptos"/>
              </a:defRPr>
            </a:pPr>
            <a:r>
              <a:t>Đã loại 21 cặp rò rỉ train↔dev/test; test không dùng chọn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4. Tokenizer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BPE dùng chung Anh–Việt, vocab 32.000, embedding chia sẻ.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Fertility: EN 1,0664 · VI 1,0137; UNK train/dev = 0,0000%.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Corpus đã tách token → điểm chính dùng SacreBLEU tok:none.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5. Hyperparameter cuối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Thành phần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Giá trị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Encoder / Decoder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6 / 6 lớp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d_model 512; 8 head × 64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FFN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SwiGLU d_ff 688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Dropout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0,3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Optimizer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AdamW lr 7e-4; clip 1,0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4.096 token × tích lũy 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6. Bốn thay đổi kiến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RoPE: áp query/key của self-attention; không áp cross-attention.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Pre-Norm + final RMSNorm: ổn định đường gradient.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RMSNorm: chuẩn hóa độ lớn, tính mean-square ở float32.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SwiGLU d_ff=688 khớp tham số ReLU d_ff=1024 dưới 1%.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7. Kiểm chứng tính đúng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Attention/RMSNorm đối chiếu PyTorch sai lệch &lt; 1e-5.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Beam=1 trùng Greedy; cache trùng decode đầy đủ cho RoPE và sin-cos.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Mô hình 47.955.968 tham số; vanilla khớp cỡ chênh 0,175%.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Cổng overfit 50 câu nằm trong test slow của repo.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8. Checkpoint chịu lỗi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9</a:t>
            </a:r>
          </a:p>
        </p:txBody>
      </p:sp>
      <p:pic>
        <p:nvPicPr>
          <p:cNvPr id="4" name="Picture 3" descr="thi_nghiem_phuc_h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5C677D"/>
                </a:solidFill>
                <a:latin typeface="Aptos"/>
              </a:defRPr>
            </a:pPr>
            <a:r>
              <a:t>60/60 bước có loss trùng; chênh lớn nhất 0,000000%.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9. Huấn luyện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10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5C677D"/>
                </a:solidFill>
                <a:latin typeface="Aptos"/>
              </a:defRPr>
            </a:pPr>
            <a:r>
              <a:t>Checkpoint được chấm: bước 6.000, epoch 34, loss dev 2,2364.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10. Kết quả full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97280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BLEU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chrF++</a:t>
                      </a:r>
                    </a:p>
                  </a:txBody>
                  <a:tcPr>
                    <a:solidFill>
                      <a:srgbClr val="2454A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tst2012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Greedy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26,24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45,57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tst2013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Greedy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29,74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48,73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tst2013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Beam-4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30,69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900"/>
                        </a:spcAft>
                        <a:defRPr sz="1600">
                          <a:solidFill>
                            <a:srgbClr val="1C2536"/>
                          </a:solidFill>
                          <a:latin typeface="Aptos"/>
                        </a:defRPr>
                      </a:pPr>
                      <a:r>
                        <a:t>49,60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5C677D"/>
                </a:solidFill>
                <a:latin typeface="Aptos"/>
              </a:defRPr>
            </a:pPr>
            <a:r>
              <a:t>Signature BLEU: tok:none · Beam tăng +0,95 BLEU.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11. Greedy vs Beam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12</a:t>
            </a:r>
          </a:p>
        </p:txBody>
      </p:sp>
      <p:pic>
        <p:nvPicPr>
          <p:cNvPr id="4" name="Picture 3" descr="searc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5C677D"/>
                </a:solidFill>
                <a:latin typeface="Aptos"/>
              </a:defRPr>
            </a:pPr>
            <a:r>
              <a:t>Beam cải thiện chất lượng corpus nhưng chậm hơn; không sửa mọi lỗi từng câu.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12. Hiệu quả KV-cache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13</a:t>
            </a:r>
          </a:p>
        </p:txBody>
      </p:sp>
      <p:pic>
        <p:nvPicPr>
          <p:cNvPr id="4" name="Picture 3" descr="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5C677D"/>
                </a:solidFill>
                <a:latin typeface="Aptos"/>
              </a:defRPr>
            </a:pPr>
            <a:r>
              <a:t>200 câu CPU: throughput 0,77→2,41 câu/s; BLEU giữ nguyên.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13. Phân tích lỗi 30 câu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14</a:t>
            </a:r>
          </a:p>
        </p:txBody>
      </p:sp>
      <p:pic>
        <p:nvPicPr>
          <p:cNvPr id="4" name="Picture 3" descr="phan_tich_l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69848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5C677D"/>
                </a:solidFill>
                <a:latin typeface="Aptos"/>
              </a:defRPr>
            </a:pPr>
            <a:r>
              <a:t>Nổi bật: sai nghĩa từ đa nghĩa và dịch sát cấu trúc tiếng Anh.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2454A0"/>
                </a:solidFill>
                <a:latin typeface="Aptos Display"/>
              </a:defRPr>
            </a:pPr>
            <a:r>
              <a:t>14. Kết luận &amp; việc còn thiếu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77D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Đã đạt chất lượng: Greedy 29,74; Beam-4 30,69 BLEU.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Demo Docker đang chạy local; image 429 MiB, health HTTP 200.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Chưa có 15 lượt GPU vanilla/A1–A6 còn lại → chưa kết luận đóng góp nhân quả.</a:t>
            </a:r>
          </a:p>
          <a:p>
            <a:pPr>
              <a:spcAft>
                <a:spcPts val="900"/>
              </a:spcAft>
              <a:defRPr sz="2300">
                <a:solidFill>
                  <a:srgbClr val="1C2536"/>
                </a:solidFill>
                <a:latin typeface="Aptos"/>
              </a:defRPr>
            </a:pPr>
            <a:r>
              <a:t>Tiếp theo: chạy manifest trên T4, tổng hợp mean/std, tạo URL Space bằng tài khoản nhóm.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